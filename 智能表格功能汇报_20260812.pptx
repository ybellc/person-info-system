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182880"/>
            <a:ext cx="3200400" cy="164592"/>
          </a:xfrm>
          <a:prstGeom prst="rect">
            <a:avLst/>
          </a:prstGeom>
          <a:solidFill>
            <a:srgbClr val="E88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0" y="457200"/>
            <a:ext cx="2743200" cy="914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188720"/>
            <a:ext cx="2066544" cy="29260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2066544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  信息中心 · 人事信息组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97280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微软雅黑"/>
                <a:ea typeface="微软雅黑"/>
              </a:rPr>
              <a:t>智能表格功能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109728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0">
                <a:solidFill>
                  <a:srgbClr val="BDD9EB"/>
                </a:solidFill>
                <a:latin typeface="微软雅黑"/>
                <a:ea typeface="微软雅黑"/>
              </a:rPr>
              <a:t>智能识别 · 自动填充 · 按模板导出 · 一站式收集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663440"/>
            <a:ext cx="3474720" cy="45720"/>
          </a:xfrm>
          <a:prstGeom prst="rect">
            <a:avLst/>
          </a:prstGeom>
          <a:solidFill>
            <a:srgbClr val="E88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9377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BDD9EB"/>
                </a:solidFill>
                <a:latin typeface="微软雅黑"/>
                <a:ea typeface="微软雅黑"/>
              </a:rPr>
              <a:t>系统功能上线汇报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778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</a:rPr>
              <a:t>汇报人：信息中心     2026 年 8 月 12 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9144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1 / 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601968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  <a:ea typeface="微软雅黑"/>
              </a:rPr>
              <a:t>人员基本信息系统 · 智能表格模块汇报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微软雅黑"/>
                <a:ea typeface="微软雅黑"/>
              </a:rPr>
              <a:t>汇报目录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7F8C8D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9144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2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  <a:ea typeface="微软雅黑"/>
              </a:rPr>
              <a:t>人员基本信息系统 · 智能表格模块汇报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822960" cy="7772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8229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1828800"/>
            <a:ext cx="4663440" cy="777240"/>
          </a:xfrm>
          <a:prstGeom prst="rect">
            <a:avLst/>
          </a:prstGeom>
          <a:solidFill>
            <a:srgbClr val="F7F9FC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1901952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微软雅黑"/>
                <a:ea typeface="微软雅黑"/>
              </a:rPr>
              <a:t>项目背景与痛点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267712"/>
            <a:ext cx="42976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  <a:ea typeface="微软雅黑"/>
              </a:rPr>
              <a:t>为什么要做智能表格？解决什么问题？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46120"/>
            <a:ext cx="822960" cy="7772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8229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3246120"/>
            <a:ext cx="4663440" cy="777240"/>
          </a:xfrm>
          <a:prstGeom prst="rect">
            <a:avLst/>
          </a:prstGeom>
          <a:solidFill>
            <a:srgbClr val="F7F9FC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83080" y="3319272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微软雅黑"/>
                <a:ea typeface="微软雅黑"/>
              </a:rPr>
              <a:t>系统功能概览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685032"/>
            <a:ext cx="42976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  <a:ea typeface="微软雅黑"/>
              </a:rPr>
              <a:t>系统整体架构与核心模块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663440"/>
            <a:ext cx="822960" cy="7772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663440"/>
            <a:ext cx="8229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4663440"/>
            <a:ext cx="4663440" cy="777240"/>
          </a:xfrm>
          <a:prstGeom prst="rect">
            <a:avLst/>
          </a:prstGeom>
          <a:solidFill>
            <a:srgbClr val="F7F9FC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83080" y="4736592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微软雅黑"/>
                <a:ea typeface="微软雅黑"/>
              </a:rPr>
              <a:t>功能演示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5102352"/>
            <a:ext cx="42976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  <a:ea typeface="微软雅黑"/>
              </a:rPr>
              <a:t>上传识别 → 下发填写 → 收集导出 全流程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828800"/>
            <a:ext cx="822960" cy="7772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828800"/>
            <a:ext cx="8229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0" y="1828800"/>
            <a:ext cx="4663440" cy="777240"/>
          </a:xfrm>
          <a:prstGeom prst="rect">
            <a:avLst/>
          </a:prstGeom>
          <a:solidFill>
            <a:srgbClr val="F7F9FC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1901952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微软雅黑"/>
                <a:ea typeface="微软雅黑"/>
              </a:rPr>
              <a:t>技术与安全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2267712"/>
            <a:ext cx="42976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  <a:ea typeface="微软雅黑"/>
              </a:rPr>
              <a:t>技术亮点与安全加固情况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246120"/>
            <a:ext cx="822960" cy="7772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246120"/>
            <a:ext cx="8229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3246120"/>
            <a:ext cx="4663440" cy="777240"/>
          </a:xfrm>
          <a:prstGeom prst="rect">
            <a:avLst/>
          </a:prstGeom>
          <a:solidFill>
            <a:srgbClr val="F7F9FC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3319272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微软雅黑"/>
                <a:ea typeface="微软雅黑"/>
              </a:rPr>
              <a:t>成果与数据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3685032"/>
            <a:ext cx="42976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  <a:ea typeface="微软雅黑"/>
              </a:rPr>
              <a:t>当前已完成功能与测试结果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663440"/>
            <a:ext cx="822960" cy="7772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663440"/>
            <a:ext cx="8229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23760" y="4663440"/>
            <a:ext cx="4663440" cy="777240"/>
          </a:xfrm>
          <a:prstGeom prst="rect">
            <a:avLst/>
          </a:prstGeom>
          <a:solidFill>
            <a:srgbClr val="F7F9FC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4736592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微软雅黑"/>
                <a:ea typeface="微软雅黑"/>
              </a:rPr>
              <a:t>未来发展方向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5102352"/>
            <a:ext cx="42976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  <a:ea typeface="微软雅黑"/>
              </a:rPr>
              <a:t>现存问题、下一步规划、长期目标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微软雅黑"/>
                <a:ea typeface="微软雅黑"/>
              </a:rPr>
              <a:t>一、项目背景与痛点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7F8C8D"/>
                </a:solidFill>
                <a:latin typeface="微软雅黑"/>
                <a:ea typeface="微软雅黑"/>
              </a:rPr>
              <a:t>Why we build it · 解决什么问题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9144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3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  <a:ea typeface="微软雅黑"/>
              </a:rPr>
              <a:t>人员基本信息系统 · 智能表格模块汇报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5486400" cy="548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28800"/>
            <a:ext cx="53035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  🎯  业务背景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5303520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1">
                <a:solidFill>
                  <a:srgbClr val="2C3E50"/>
                </a:solidFill>
                <a:latin typeface="微软雅黑"/>
                <a:ea typeface="微软雅黑"/>
              </a:rPr>
              <a:t>传统手工Excel/Word收表效率低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：每月工资、考核、个人信息填报需要HR手工发邮件/发微信群收集。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1">
                <a:solidFill>
                  <a:srgbClr val="2C3E50"/>
                </a:solidFill>
                <a:latin typeface="微软雅黑"/>
                <a:ea typeface="微软雅黑"/>
              </a:rPr>
              <a:t>数据收集难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：文件版本混乱，数据散落在多人邮箱/微信中，汇总人工逐个打开复制粘贴。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1">
                <a:solidFill>
                  <a:srgbClr val="2C3E50"/>
                </a:solidFill>
                <a:latin typeface="微软雅黑"/>
                <a:ea typeface="微软雅黑"/>
              </a:rPr>
              <a:t>缺少校验和追溯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：漏填、错填难以及时发现，退回修改需要反复沟通。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1">
                <a:solidFill>
                  <a:srgbClr val="2C3E50"/>
                </a:solidFill>
                <a:latin typeface="微软雅黑"/>
                <a:ea typeface="微软雅黑"/>
              </a:rPr>
              <a:t>无法对接人员档案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：已有人员基本信息，仍需员工一遍一遍重复填写，体验差。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48640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737360"/>
            <a:ext cx="5486400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828800"/>
            <a:ext cx="53035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  ⚠️  传统收表 6 大痛点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77440"/>
            <a:ext cx="5303520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1">
                <a:solidFill>
                  <a:srgbClr val="2C3E50"/>
                </a:solidFill>
                <a:latin typeface="微软雅黑"/>
                <a:ea typeface="微软雅黑"/>
              </a:rPr>
              <a:t>手动发放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：8 人部门一次发放需要 15 分钟人工操作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1">
                <a:solidFill>
                  <a:srgbClr val="2C3E50"/>
                </a:solidFill>
                <a:latin typeface="微软雅黑"/>
                <a:ea typeface="微软雅黑"/>
              </a:rPr>
              <a:t>重复填写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：已有档案的个人信息仍需员工重复录入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1">
                <a:solidFill>
                  <a:srgbClr val="2C3E50"/>
                </a:solidFill>
                <a:latin typeface="微软雅黑"/>
                <a:ea typeface="微软雅黑"/>
              </a:rPr>
              <a:t>汇总耗时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：1 份 8 人部门表汇总需要 30 分钟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1">
                <a:solidFill>
                  <a:srgbClr val="2C3E50"/>
                </a:solidFill>
                <a:latin typeface="微软雅黑"/>
                <a:ea typeface="微软雅黑"/>
              </a:rPr>
              <a:t>漏填率高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：历史数据漏填率约 15%，退回沟通成本高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1">
                <a:solidFill>
                  <a:srgbClr val="2C3E50"/>
                </a:solidFill>
                <a:latin typeface="微软雅黑"/>
                <a:ea typeface="微软雅黑"/>
              </a:rPr>
              <a:t>格式不统一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：回收文件格式杂乱，难以复用存档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1">
                <a:solidFill>
                  <a:srgbClr val="2C3E50"/>
                </a:solidFill>
                <a:latin typeface="微软雅黑"/>
                <a:ea typeface="微软雅黑"/>
              </a:rPr>
              <a:t>安全无保障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：邮件/微信群传输，敏感信息容易泄露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E88D1F"/>
                </a:solidFill>
                <a:latin typeface="微软雅黑"/>
                <a:ea typeface="微软雅黑"/>
              </a:rPr>
              <a:t>➡️  由此：打造一个“上传即识别 · 自动填好 · 原模板导出”的智能表格系统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微软雅黑"/>
                <a:ea typeface="微软雅黑"/>
              </a:rPr>
              <a:t>二、系统功能概览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7F8C8D"/>
                </a:solidFill>
                <a:latin typeface="微软雅黑"/>
                <a:ea typeface="微软雅黑"/>
              </a:rPr>
              <a:t>System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9144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4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  <a:ea typeface="微软雅黑"/>
              </a:rPr>
              <a:t>人员基本信息系统 · 智能表格模块汇报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2011680" cy="7315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20116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① 上传识别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60320"/>
            <a:ext cx="2011680" cy="1828800"/>
          </a:xfrm>
          <a:prstGeom prst="rect">
            <a:avLst/>
          </a:prstGeom>
          <a:solidFill>
            <a:srgbClr val="F7F9FC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651760"/>
            <a:ext cx="18288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上传Word/Excel/PDF</a:t>
            </a:r>
          </a:p>
          <a:p>
            <a:pPr algn="ctr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系统自动识别</a:t>
            </a:r>
          </a:p>
          <a:p>
            <a:pPr algn="ctr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字段与布局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1737360"/>
            <a:ext cx="2011680" cy="7315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1737360"/>
            <a:ext cx="20116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② 字段标注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2560320"/>
            <a:ext cx="2011680" cy="1828800"/>
          </a:xfrm>
          <a:prstGeom prst="rect">
            <a:avLst/>
          </a:prstGeom>
          <a:solidFill>
            <a:srgbClr val="F7F9FC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2651760"/>
            <a:ext cx="18288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可视化标注</a:t>
            </a:r>
          </a:p>
          <a:p>
            <a:pPr algn="ctr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可添加/删除/修改</a:t>
            </a:r>
          </a:p>
          <a:p>
            <a:pPr algn="ctr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可匹配系统档案字段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1737360"/>
            <a:ext cx="2011680" cy="731520"/>
          </a:xfrm>
          <a:prstGeom prst="rect">
            <a:avLst/>
          </a:prstGeom>
          <a:solidFill>
            <a:srgbClr val="2874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1737360"/>
            <a:ext cx="20116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③ 发放任务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2560320"/>
            <a:ext cx="2011680" cy="1828800"/>
          </a:xfrm>
          <a:prstGeom prst="rect">
            <a:avLst/>
          </a:prstGeom>
          <a:solidFill>
            <a:srgbClr val="F7F9FC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2651760"/>
            <a:ext cx="18288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按部门/岗位/个人</a:t>
            </a:r>
          </a:p>
          <a:p>
            <a:pPr algn="ctr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全员或定向发放</a:t>
            </a:r>
          </a:p>
          <a:p>
            <a:pPr algn="ctr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支持截止时间设置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20" y="1737360"/>
            <a:ext cx="2011680" cy="731520"/>
          </a:xfrm>
          <a:prstGeom prst="rect">
            <a:avLst/>
          </a:prstGeom>
          <a:solidFill>
            <a:srgbClr val="7955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1737360"/>
            <a:ext cx="20116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④ 填写提交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2560320"/>
            <a:ext cx="2011680" cy="1828800"/>
          </a:xfrm>
          <a:prstGeom prst="rect">
            <a:avLst/>
          </a:prstGeom>
          <a:solidFill>
            <a:srgbClr val="F7F9FC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2651760"/>
            <a:ext cx="18288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点击黄色单元格</a:t>
            </a:r>
          </a:p>
          <a:p>
            <a:pPr algn="ctr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自动填充个人档案</a:t>
            </a:r>
          </a:p>
          <a:p>
            <a:pPr algn="ctr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退回后可重新填写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46920" y="1737360"/>
            <a:ext cx="2011680" cy="7315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20" y="1737360"/>
            <a:ext cx="201168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⑤ 收集导出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46920" y="2560320"/>
            <a:ext cx="2011680" cy="1828800"/>
          </a:xfrm>
          <a:prstGeom prst="rect">
            <a:avLst/>
          </a:prstGeom>
          <a:solidFill>
            <a:srgbClr val="F7F9FC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38360" y="2651760"/>
            <a:ext cx="18288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实时进度统计</a:t>
            </a:r>
          </a:p>
          <a:p>
            <a:pPr algn="ctr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可退回修改</a:t>
            </a:r>
          </a:p>
          <a:p>
            <a:pPr algn="ctr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汇总表+原模板批量导出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1920240"/>
            <a:ext cx="3657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7F8C8D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1920240"/>
            <a:ext cx="3657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7F8C8D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1920240"/>
            <a:ext cx="3657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7F8C8D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1920240"/>
            <a:ext cx="3657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7F8C8D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709160"/>
            <a:ext cx="27432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4709160"/>
            <a:ext cx="2743200" cy="5486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" y="4800600"/>
            <a:ext cx="25603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  🔍  智能识别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394960"/>
            <a:ext cx="23774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支持 Word(.docx)、Excel(.xlsx/.xls)、PDF 三种格式，</a:t>
            </a:r>
          </a:p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自动解析占位符与表格内容。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56432" y="4709160"/>
            <a:ext cx="27432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56432" y="4709160"/>
            <a:ext cx="2743200" cy="548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21024" y="4800600"/>
            <a:ext cx="25603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  🧠  自动填充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39312" y="5394960"/>
            <a:ext cx="23774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可绑定系统「人员档案」字段，</a:t>
            </a:r>
          </a:p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员工填写时自动填入姓名/部门/电话等信息，</a:t>
            </a:r>
          </a:p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减少 80% 重复录入。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9944" y="4709160"/>
            <a:ext cx="27432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9944" y="4709160"/>
            <a:ext cx="2743200" cy="548640"/>
          </a:xfrm>
          <a:prstGeom prst="rect">
            <a:avLst/>
          </a:prstGeom>
          <a:solidFill>
            <a:srgbClr val="E88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74536" y="4800600"/>
            <a:ext cx="25603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  📤  原模板导出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2824" y="5394960"/>
            <a:ext cx="23774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回收结果可「一键回填原模板」，</a:t>
            </a:r>
          </a:p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保持原排版格式 Word/Excel，</a:t>
            </a:r>
          </a:p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无需再二次排版。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63456" y="4709160"/>
            <a:ext cx="22860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363456" y="4709160"/>
            <a:ext cx="2286000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28048" y="4800600"/>
            <a:ext cx="2103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  🛡️  权限管控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46336" y="5394960"/>
            <a:ext cx="19202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基于 RBAC 角色权限，</a:t>
            </a:r>
          </a:p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任务级下发/导出操作均有权限校验，</a:t>
            </a:r>
          </a:p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敏感信息可追溯。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微软雅黑"/>
                <a:ea typeface="微软雅黑"/>
              </a:rPr>
              <a:t>三、功能演示 · 上传识别与字段标注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7F8C8D"/>
                </a:solidFill>
                <a:latin typeface="微软雅黑"/>
                <a:ea typeface="微软雅黑"/>
              </a:rPr>
              <a:t>Upload → Auto Recognize → Annotate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9144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5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  <a:ea typeface="微软雅黑"/>
              </a:rPr>
              <a:t>人员基本信息系统 · 智能表格模块汇报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411480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4114800" cy="548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28800"/>
            <a:ext cx="39319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  🛠️  操作步骤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393192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Step 1：选择 Word/Excel/PDF 文件上传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Step 2：系统自动识别占位符和字段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Step 3：进入标注模式，点击任意单元格增加填写字段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Step 4：可删除已有字段 / 绑定系统档案字段（如姓名、部门）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Step 5：保存，完成一张智能表单的创建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737360"/>
            <a:ext cx="6858000" cy="4663440"/>
          </a:xfrm>
          <a:prstGeom prst="rect">
            <a:avLst/>
          </a:prstGeom>
          <a:solidFill>
            <a:srgbClr val="F7F9FC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737360"/>
            <a:ext cx="68580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  🖼️  标注模式下的文档示意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7800" y="2514600"/>
            <a:ext cx="1463040" cy="594360"/>
          </a:xfrm>
          <a:prstGeom prst="rect">
            <a:avLst/>
          </a:prstGeom>
          <a:solidFill>
            <a:srgbClr val="FFF5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2532888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2C3E50"/>
                </a:solidFill>
                <a:latin typeface="微软雅黑"/>
                <a:ea typeface="微软雅黑"/>
              </a:rPr>
              <a:t>姓名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816352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F8C8D"/>
                </a:solidFill>
                <a:latin typeface="微软雅黑"/>
                <a:ea typeface="微软雅黑"/>
              </a:rPr>
              <a:t>绑定人员档案 → 自动填充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0840" y="2514600"/>
            <a:ext cx="1463040" cy="594360"/>
          </a:xfrm>
          <a:prstGeom prst="rect">
            <a:avLst/>
          </a:prstGeom>
          <a:solidFill>
            <a:srgbClr val="FFF5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532888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2C3E50"/>
                </a:solidFill>
                <a:latin typeface="微软雅黑"/>
                <a:ea typeface="微软雅黑"/>
              </a:rPr>
              <a:t>性别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816352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F8C8D"/>
                </a:solidFill>
                <a:latin typeface="微软雅黑"/>
                <a:ea typeface="微软雅黑"/>
              </a:rPr>
              <a:t>绑定人员档案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80" y="2514600"/>
            <a:ext cx="1463040" cy="594360"/>
          </a:xfrm>
          <a:prstGeom prst="rect">
            <a:avLst/>
          </a:prstGeom>
          <a:solidFill>
            <a:srgbClr val="FFF5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532888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2C3E50"/>
                </a:solidFill>
                <a:latin typeface="微软雅黑"/>
                <a:ea typeface="微软雅黑"/>
              </a:rPr>
              <a:t>出生年月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816352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F8C8D"/>
                </a:solidFill>
                <a:latin typeface="微软雅黑"/>
                <a:ea typeface="微软雅黑"/>
              </a:rPr>
              <a:t>绑定人员档案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46920" y="2514600"/>
            <a:ext cx="1463040" cy="594360"/>
          </a:xfrm>
          <a:prstGeom prst="rect">
            <a:avLst/>
          </a:prstGeom>
          <a:solidFill>
            <a:srgbClr val="FFF5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2532888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2C3E50"/>
                </a:solidFill>
                <a:latin typeface="微软雅黑"/>
                <a:ea typeface="微软雅黑"/>
              </a:rPr>
              <a:t>学历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816352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F8C8D"/>
                </a:solidFill>
                <a:latin typeface="微软雅黑"/>
                <a:ea typeface="微软雅黑"/>
              </a:rPr>
              <a:t>可编辑字段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57800" y="3108960"/>
            <a:ext cx="1463040" cy="594360"/>
          </a:xfrm>
          <a:prstGeom prst="rect">
            <a:avLst/>
          </a:prstGeom>
          <a:solidFill>
            <a:srgbClr val="FFF5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0" y="3127248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2C3E50"/>
                </a:solidFill>
                <a:latin typeface="微软雅黑"/>
                <a:ea typeface="微软雅黑"/>
              </a:rPr>
              <a:t>所属部门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410712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F8C8D"/>
                </a:solidFill>
                <a:latin typeface="微软雅黑"/>
                <a:ea typeface="微软雅黑"/>
              </a:rPr>
              <a:t>绑定人员档案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20840" y="3108960"/>
            <a:ext cx="1463040" cy="594360"/>
          </a:xfrm>
          <a:prstGeom prst="rect">
            <a:avLst/>
          </a:prstGeom>
          <a:solidFill>
            <a:srgbClr val="FFF5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127248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2C3E50"/>
                </a:solidFill>
                <a:latin typeface="微软雅黑"/>
                <a:ea typeface="微软雅黑"/>
              </a:rPr>
              <a:t>职位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410712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F8C8D"/>
                </a:solidFill>
                <a:latin typeface="微软雅黑"/>
                <a:ea typeface="微软雅黑"/>
              </a:rPr>
              <a:t>绑定人员档案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3880" y="3108960"/>
            <a:ext cx="1463040" cy="594360"/>
          </a:xfrm>
          <a:prstGeom prst="rect">
            <a:avLst/>
          </a:prstGeom>
          <a:solidFill>
            <a:srgbClr val="FFF5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3127248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2C3E50"/>
                </a:solidFill>
                <a:latin typeface="微软雅黑"/>
                <a:ea typeface="微软雅黑"/>
              </a:rPr>
              <a:t>入职日期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410712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F8C8D"/>
                </a:solidFill>
                <a:latin typeface="微软雅黑"/>
                <a:ea typeface="微软雅黑"/>
              </a:rPr>
              <a:t>绑定人员档案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46920" y="3108960"/>
            <a:ext cx="14630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92640" y="3127248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家庭住址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3410712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F8C8D"/>
                </a:solidFill>
                <a:latin typeface="微软雅黑"/>
                <a:ea typeface="微软雅黑"/>
              </a:rPr>
              <a:t>待填写字段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57800" y="3703320"/>
            <a:ext cx="14630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0" y="3721608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紧急联系人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4005072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F8C8D"/>
                </a:solidFill>
                <a:latin typeface="微软雅黑"/>
                <a:ea typeface="微软雅黑"/>
              </a:rPr>
              <a:t>待填写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20840" y="3703320"/>
            <a:ext cx="1463040" cy="594360"/>
          </a:xfrm>
          <a:prstGeom prst="rect">
            <a:avLst/>
          </a:prstGeom>
          <a:solidFill>
            <a:srgbClr val="FFF5CC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0" y="3721608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2C3E50"/>
                </a:solidFill>
                <a:latin typeface="微软雅黑"/>
                <a:ea typeface="微软雅黑"/>
              </a:rPr>
              <a:t>联系电话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4005072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F8C8D"/>
                </a:solidFill>
                <a:latin typeface="微软雅黑"/>
                <a:ea typeface="微软雅黑"/>
              </a:rPr>
              <a:t>绑定人员档案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83880" y="3703320"/>
            <a:ext cx="14630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0" y="3721608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健康状况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4005072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F8C8D"/>
                </a:solidFill>
                <a:latin typeface="微软雅黑"/>
                <a:ea typeface="微软雅黑"/>
              </a:rPr>
              <a:t>待填写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46920" y="3703320"/>
            <a:ext cx="14630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92640" y="3721608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备注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0" y="4005072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7F8C8D"/>
                </a:solidFill>
                <a:latin typeface="微软雅黑"/>
                <a:ea typeface="微软雅黑"/>
              </a:rPr>
              <a:t>待填写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66360" y="4754880"/>
            <a:ext cx="2578608" cy="292608"/>
          </a:xfrm>
          <a:prstGeom prst="rect">
            <a:avLst/>
          </a:prstGeom>
          <a:solidFill>
            <a:srgbClr val="FFF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66360" y="4754880"/>
            <a:ext cx="2578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2C3E50"/>
                </a:solidFill>
                <a:latin typeface="微软雅黑"/>
                <a:ea typeface="微软雅黑"/>
              </a:rPr>
              <a:t>🟡 黄色单元格 = 可填写 + 自动填充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66360" y="5120640"/>
            <a:ext cx="2651760" cy="29260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166360" y="5120640"/>
            <a:ext cx="265176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🔗 绑定档案字段可自动填充 80% 信息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66360" y="5486400"/>
            <a:ext cx="2871216" cy="29260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66360" y="5486400"/>
            <a:ext cx="2871216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➕ 标注模式点任意格 → 一键增加填写项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微软雅黑"/>
                <a:ea typeface="微软雅黑"/>
              </a:rPr>
              <a:t>三、功能演示 · 下发任务与填写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7F8C8D"/>
                </a:solidFill>
                <a:latin typeface="微软雅黑"/>
                <a:ea typeface="微软雅黑"/>
              </a:rPr>
              <a:t>Distribute → Auto-fill → Submit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9144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6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  <a:ea typeface="微软雅黑"/>
              </a:rPr>
              <a:t>人员基本信息系统 · 智能表格模块汇报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39496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5394960" cy="548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28800"/>
            <a:ext cx="52120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  📨  管理员端 · 下发填写任务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521208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('发放对象', '支持按部门 / 岗位 / 班组 / 个人 / 全体成员多种方式定向发放')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('任务说明', '可为每次发放单独设置「任务标题」「截止时间」「下发备注」')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('进度可视', '实时显示 XX / N 已提交，进度一目了然，无需逐个去问')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('批量提醒', '后续迭代将增加「一键提醒未提交」、到期自动邮件通知')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37360"/>
            <a:ext cx="539496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37360"/>
            <a:ext cx="5394960" cy="5486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828800"/>
            <a:ext cx="52120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  ✍️  员工端 · 快速填写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77440"/>
            <a:ext cx="521208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('默认打开「待我填写」', '进入系统后默认显示个人待办，避免找不到任务')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('自动填充 80%', '姓名/性别/出生年月/部门/岗位/入职日期 自动从档案填入')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('黄色单元格可填写', '点击高亮单元格即可编辑，其他部分只读，避免误改格式')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('退回再改', '退回任务会生成「待办」+ 显示退回原因，可直接进入修改')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('提交后可见结果', '提交后状态变「已提交」，可再次查看或下载原模板')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80760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管理员「下发」 →  员工收到「待办」 →  自动填档案字段 →  补填剩余项 →  一键「提交」 →  管理员实时看进度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微软雅黑"/>
                <a:ea typeface="微软雅黑"/>
              </a:rPr>
              <a:t>三、功能演示 · 收集结果与原模板导出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7F8C8D"/>
                </a:solidFill>
                <a:latin typeface="微软雅黑"/>
                <a:ea typeface="微软雅黑"/>
              </a:rPr>
              <a:t>Responses Collect → Return → Export-as-Template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9144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7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  <a:ea typeface="微软雅黑"/>
              </a:rPr>
              <a:t>人员基本信息系统 · 智能表格模块汇报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365760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3657600" cy="548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28800"/>
            <a:ext cx="34747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  📊  收集结果总览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347472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每次下发单独一个收集结果页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显示「已提交 XX / 总人数 N」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展示每人每项字段的填写内容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点击可单独查看某人的提交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737360"/>
            <a:ext cx="3749039" cy="4663440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737360"/>
            <a:ext cx="3749039" cy="548640"/>
          </a:xfrm>
          <a:prstGeom prst="rect">
            <a:avLst/>
          </a:prstGeom>
          <a:solidFill>
            <a:srgbClr val="E88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1828800"/>
            <a:ext cx="3566159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  🔙  退回与重新提交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377440"/>
            <a:ext cx="3566159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发现错填/漏填可「退回」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可填写退回原因给填写人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填写人收到待办后可直接修改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退回后计数自动 -1，重新提交后自动 +1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737360"/>
            <a:ext cx="356616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737360"/>
            <a:ext cx="3566160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828800"/>
            <a:ext cx="33832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  📎  两种导出方式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77440"/>
            <a:ext cx="3383280" cy="4023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('📋 汇总 Excel 导出', '一张表包含所有填写者的字段值，便于统计分析')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('📑 原模板批量导出', '每人一份原格式 Word/Excel 文件，保持原版排版，打包 ZIP 下载')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('📄 单人下载', '在收集页或我的待办中可单独下载某个人的填好原模板文件')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06440"/>
            <a:ext cx="1124712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📌  导出效果：员工提交的信息会准确回填到原文档对应单元格，保留原字体、样式、页眉页脚，无需二次排版即可直接存档。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微软雅黑"/>
                <a:ea typeface="微软雅黑"/>
              </a:rPr>
              <a:t>四、技术亮点与安全加固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7F8C8D"/>
                </a:solidFill>
                <a:latin typeface="微软雅黑"/>
                <a:ea typeface="微软雅黑"/>
              </a:rPr>
              <a:t>Tech Highlights &amp;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9144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8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  <a:ea typeface="微软雅黑"/>
              </a:rPr>
              <a:t>人员基本信息系统 · 智能表格模块汇报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27432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2743200" cy="548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28800"/>
            <a:ext cx="25603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  🏗️  技术栈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2560320" cy="3931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('后端', 'Python · FastAPI + SQLAlchemy')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('前端', 'Vue 3 · Vite · Element Plus')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('文档解析', 'python-docx / openpyxl / PyMuPDF')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('数据库', 'SQLite（可无缝切换 PostgreSQL）')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737360"/>
            <a:ext cx="283464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737360"/>
            <a:ext cx="2834640" cy="5486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2152" y="1828800"/>
            <a:ext cx="26517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  ⚙️  技术亮点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377440"/>
            <a:ext cx="2651760" cy="3931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占位符 + 表格双策略识别，兼顾人工模板与纯 Word 表格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字段标注支持精确单元格坐标 (sheet,row,col)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回填采用坐标优先 → 占位符替换双策略兜底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状态驱动：pending → submitted → returned 闭环流转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737360"/>
            <a:ext cx="265176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737360"/>
            <a:ext cx="2651760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1828800"/>
            <a:ext cx="24688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  🛡️  权限校验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377440"/>
            <a:ext cx="2468880" cy="3931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所有接口统一 RBAC 认证 (Bearer Token)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任务查看：仅任务本人 / 下发人 / 超管可见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退回：仅下发人本人可执行退回操作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导出：仅下发人或超管可批量导出收集数据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下载：限制文件名 + 白名单扩展名，防止路径穿越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737360"/>
            <a:ext cx="265176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1737360"/>
            <a:ext cx="2651760" cy="548640"/>
          </a:xfrm>
          <a:prstGeom prst="rect">
            <a:avLst/>
          </a:prstGeom>
          <a:solidFill>
            <a:srgbClr val="E88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872" y="1828800"/>
            <a:ext cx="24688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  🧪  已完成测试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377440"/>
            <a:ext cx="2468880" cy="3931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✅ 20+ API 接口逐一冒烟测试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✅ 提交流程计数一致性校验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✅ 退回流程计数回退 + 再提交复原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✅ 中文文件名原模板下载（URL 编码）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✅ 权限越权访问（非下发人导出）已拦截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微软雅黑"/>
                <a:ea typeface="微软雅黑"/>
              </a:rPr>
              <a:t>五、当前成果与数据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7F8C8D"/>
                </a:solidFill>
                <a:latin typeface="微软雅黑"/>
                <a:ea typeface="微软雅黑"/>
              </a:rPr>
              <a:t>Current Achievements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9144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9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  <a:ea typeface="微软雅黑"/>
              </a:rPr>
              <a:t>人员基本信息系统 · 智能表格模块汇报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5603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2560320" cy="10972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256032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000" b="1">
                <a:solidFill>
                  <a:srgbClr val="2E86AB"/>
                </a:solidFill>
                <a:latin typeface="微软雅黑"/>
                <a:ea typeface="微软雅黑"/>
              </a:rPr>
              <a:t>已实现 6 大流程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0400"/>
            <a:ext cx="237744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上传/识别/标注/发放/收集/导出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1828800"/>
            <a:ext cx="25603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54680" y="1828800"/>
            <a:ext cx="2560320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2103120"/>
            <a:ext cx="256032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000" b="1">
                <a:solidFill>
                  <a:srgbClr val="1F4E79"/>
                </a:solidFill>
                <a:latin typeface="微软雅黑"/>
                <a:ea typeface="微软雅黑"/>
              </a:rPr>
              <a:t>支持 3 种文档格式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200400"/>
            <a:ext cx="237744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Word / Excel / PDF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1828800"/>
            <a:ext cx="25603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1828800"/>
            <a:ext cx="2560320" cy="109728"/>
          </a:xfrm>
          <a:prstGeom prst="rect">
            <a:avLst/>
          </a:prstGeom>
          <a:solidFill>
            <a:srgbClr val="E88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103120"/>
            <a:ext cx="256032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000" b="1">
                <a:solidFill>
                  <a:srgbClr val="E88D1F"/>
                </a:solidFill>
                <a:latin typeface="微软雅黑"/>
                <a:ea typeface="微软雅黑"/>
              </a:rPr>
              <a:t>80% 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200400"/>
            <a:ext cx="237744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档案字段自动填充率，减少录入工作量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49640" y="1828800"/>
            <a:ext cx="25603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49640" y="1828800"/>
            <a:ext cx="2560320" cy="10972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2103120"/>
            <a:ext cx="256032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3000" b="1">
                <a:solidFill>
                  <a:srgbClr val="27AE60"/>
                </a:solidFill>
                <a:latin typeface="微软雅黑"/>
                <a:ea typeface="微软雅黑"/>
              </a:rPr>
              <a:t>0 次 越权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3200400"/>
            <a:ext cx="237744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微软雅黑"/>
                <a:ea typeface="微软雅黑"/>
              </a:rPr>
              <a:t>10 类敏感接口全量权限校验已加固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89120"/>
            <a:ext cx="1124712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389120"/>
            <a:ext cx="11247120" cy="5486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448056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  ✅  功能完成清单（共 20 项核心功能）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029200"/>
            <a:ext cx="1106424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('文档智能识别', 'Word/Excel/PDF 上传 → 占位符/表格 → 候选字段')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('可视化字段标注', '标注模式点任意单元格 → 添加/删除/改字段属性')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('系统字段绑定', '字段可绑定人员档案 → 自动填充，员工零操作')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('多种发放对象', '部门/岗位/个人/全员 多方式一键发放')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('进度统计实时', 'XX/N 提交数实时更新，提交和退回自动重算')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('退回/重提闭环', '支持退回 + 退回原因，重新提交自动恢复计数')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('两种导出格式', '汇总 Excel + 原模板 Word/Excel 批量导出 (ZIP)')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('已提交任务保留', '用户可在「待我填写」中看到已提交任务 + 可下载原模板')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微软雅黑"/>
                <a:ea typeface="微软雅黑"/>
              </a:rPr>
              <a:t>六、现存问题与未来发展方向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7F8C8D"/>
                </a:solidFill>
                <a:latin typeface="微软雅黑"/>
                <a:ea typeface="微软雅黑"/>
              </a:rPr>
              <a:t>Roadmap ·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9144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10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  <a:ea typeface="微软雅黑"/>
              </a:rPr>
              <a:t>人员基本信息系统 · 智能表格模块汇报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57784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5577840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28800"/>
            <a:ext cx="53949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  🔧  当前尚存小问题（近期待迭代）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539496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('历史表单缺失源文件', '早期表单通过 API 创建未同步上传源文件 → 无法导出原模板，需补发')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('PDF 预览排版', '当前 PDF 已支持标注和识别，预览渲染效果待优化')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('移动端适配', '当前主要面向 PC 端，后续移动端样式与交互待优化')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737360"/>
            <a:ext cx="54864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737360"/>
            <a:ext cx="5486400" cy="548640"/>
          </a:xfrm>
          <a:prstGeom prst="rect">
            <a:avLst/>
          </a:prstGeom>
          <a:solidFill>
            <a:srgbClr val="E88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828800"/>
            <a:ext cx="53035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  🚀  中短期迭代（1~3 个月）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377440"/>
            <a:ext cx="530352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('到期提醒', '截止前自动发送待办/邮件提醒未提交人员')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('审批流集成', '与 OA 流程引擎对接，支持填写后走审批签字流程')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('电子签章', '重要表格支持在线签字确认，具备法律效力')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('数据交叉校验', '字段与人员档案自动比对，不一致可提示或拦截')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0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420624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  🌟  长期规划（半年+）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54880"/>
            <a:ext cx="1106424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('智能模板市场', '常见收表场景（入职/调岗/请假/报销/工资条）内置模板，一键发放')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('AI 语义理解', '上传文档后 AI 自动理解表单语义，自动匹配系统字段，无需人工标注')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('跨部门联动', '人事表与财务/办公室等其他模块联动，一张表多部门共用')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('数据分析与看板', '收表数据自动沉淀成指标看板，支持历史对比、人员画像等')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微软雅黑"/>
                <a:ea typeface="微软雅黑"/>
              </a:rPr>
              <a:t>●  </a:t>
            </a:r>
            <a:r>
              <a:rPr sz="1200" b="0">
                <a:solidFill>
                  <a:srgbClr val="2C3E50"/>
                </a:solidFill>
                <a:latin typeface="微软雅黑"/>
                <a:ea typeface="微软雅黑"/>
              </a:rPr>
              <a:t>('国密与审计', '敏感信息国密存储，关键操作审计日志，满足合规要求')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11887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微软雅黑"/>
                <a:ea typeface="微软雅黑"/>
              </a:rPr>
              <a:t>总    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2880360"/>
            <a:ext cx="1554480" cy="54864"/>
          </a:xfrm>
          <a:prstGeom prst="rect">
            <a:avLst/>
          </a:prstGeom>
          <a:solidFill>
            <a:srgbClr val="E88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3291840"/>
            <a:ext cx="2560320" cy="7772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256032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✅ 已完成的事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291840"/>
            <a:ext cx="7315200" cy="777240"/>
          </a:xfrm>
          <a:prstGeom prst="rect">
            <a:avLst/>
          </a:prstGeom>
          <a:solidFill>
            <a:srgbClr val="153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3291840"/>
            <a:ext cx="69494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微软雅黑"/>
                <a:ea typeface="微软雅黑"/>
              </a:rPr>
              <a:t>智能表格 6 大核心流程全线打通，可投入实际使用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4160520"/>
            <a:ext cx="2560320" cy="7772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60520"/>
            <a:ext cx="256032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🔒 已加固的事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4160520"/>
            <a:ext cx="7315200" cy="777240"/>
          </a:xfrm>
          <a:prstGeom prst="rect">
            <a:avLst/>
          </a:prstGeom>
          <a:solidFill>
            <a:srgbClr val="153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4160520"/>
            <a:ext cx="69494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微软雅黑"/>
                <a:ea typeface="微软雅黑"/>
              </a:rPr>
              <a:t>权限校验和安全加固全面覆盖，放心上线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5029200"/>
            <a:ext cx="2560320" cy="77724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029200"/>
            <a:ext cx="256032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🎯 下一步的事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5029200"/>
            <a:ext cx="7315200" cy="777240"/>
          </a:xfrm>
          <a:prstGeom prst="rect">
            <a:avLst/>
          </a:prstGeom>
          <a:solidFill>
            <a:srgbClr val="153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5029200"/>
            <a:ext cx="694944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微软雅黑"/>
                <a:ea typeface="微软雅黑"/>
              </a:rPr>
              <a:t>基于历史数据补原模板 + 催办提醒 + 移动端适配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5943600"/>
            <a:ext cx="2103120" cy="73152"/>
          </a:xfrm>
          <a:prstGeom prst="rect">
            <a:avLst/>
          </a:prstGeom>
          <a:solidFill>
            <a:srgbClr val="E88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608076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感谢各位领导的指导，欢迎提出宝贵意见！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91440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11 / 11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601968"/>
            <a:ext cx="91440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  <a:ea typeface="微软雅黑"/>
              </a:rPr>
              <a:t>人员基本信息系统 · 智能表格模块汇报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